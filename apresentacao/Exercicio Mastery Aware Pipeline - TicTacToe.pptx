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6" r:id="rId1"/>
  </p:sldMasterIdLst>
  <p:notesMasterIdLst>
    <p:notesMasterId r:id="rId22"/>
  </p:notesMasterIdLst>
  <p:sldIdLst>
    <p:sldId id="256" r:id="rId2"/>
    <p:sldId id="834" r:id="rId3"/>
    <p:sldId id="836" r:id="rId4"/>
    <p:sldId id="835" r:id="rId5"/>
    <p:sldId id="837" r:id="rId6"/>
    <p:sldId id="838" r:id="rId7"/>
    <p:sldId id="839" r:id="rId8"/>
    <p:sldId id="840" r:id="rId9"/>
    <p:sldId id="811" r:id="rId10"/>
    <p:sldId id="809" r:id="rId11"/>
    <p:sldId id="812" r:id="rId12"/>
    <p:sldId id="818" r:id="rId13"/>
    <p:sldId id="819" r:id="rId14"/>
    <p:sldId id="820" r:id="rId15"/>
    <p:sldId id="814" r:id="rId16"/>
    <p:sldId id="815" r:id="rId17"/>
    <p:sldId id="817" r:id="rId18"/>
    <p:sldId id="816" r:id="rId19"/>
    <p:sldId id="810" r:id="rId20"/>
    <p:sldId id="803" r:id="rId21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23"/>
      <p:bold r:id="rId24"/>
      <p:italic r:id="rId25"/>
      <p:boldItalic r:id="rId26"/>
    </p:embeddedFont>
    <p:embeddedFont>
      <p:font typeface="Helvetica Neue" panose="020B0604020202020204" charset="0"/>
      <p:regular r:id="rId27"/>
      <p:bold r:id="rId28"/>
      <p:italic r:id="rId29"/>
      <p:boldItalic r:id="rId30"/>
    </p:embeddedFont>
    <p:embeddedFont>
      <p:font typeface="Helvetica Neue Light" panose="020B0604020202020204" charset="0"/>
      <p:regular r:id="rId31"/>
      <p:bold r:id="rId32"/>
      <p:italic r:id="rId33"/>
      <p:boldItalic r:id="rId34"/>
    </p:embeddedFont>
    <p:embeddedFont>
      <p:font typeface="Trebuchet MS" panose="020B0603020202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744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3540" y="1756"/>
      </p:cViewPr>
      <p:guideLst>
        <p:guide orient="horz" pos="2744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1313501d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1313501d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6C543F07-CE0F-9EE7-0054-2B859AAF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20DFBF02-67EE-F0C7-347B-706E5BC64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8B4BF6EE-8809-A018-0C64-588A4904EA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91314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C6154296-22E1-9329-3A99-A388348E1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0F790F47-68EB-666F-220A-258BBF1CA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614E64B3-6BC7-9A9F-D318-F67B0EFE7F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86539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EE6F0D52-F347-DAB2-9BFD-115B4E7F5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863ABE5B-BC10-292A-59CB-72F76AE135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3DCE65E8-9C2D-C054-C530-623CCCA906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6705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1D0006CE-5F62-54F9-738F-BA12B4F9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1CD4051E-FD67-1FDC-35D5-7771C7A8EE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9CD5ED3F-EE86-1435-D5F4-3F53EEE7AB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00597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32AB4FA8-CD24-87A9-FBEB-31A73E33C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14E37C73-06F7-1520-31AB-1F7ADB0750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17634B66-3F43-2A55-D8D4-D27DB9CBC6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039861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0AB77007-4D8C-D678-2526-1977643E7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09E213A6-D989-8EC7-5DBD-74B0C9D66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2FAE473F-17E6-4A80-4D5A-3DD237CA0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4859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AA48635D-4BEB-99F0-88E0-D60D3AF7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DF6723B8-0828-E791-6721-E29EF26BC4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1A73CC61-B763-07DB-1D35-020AFB5230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46437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93653752-2D3C-D193-FE3C-7B14EA378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74B67C1F-20D0-9F76-325E-7D1DF16B6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9B5AFFB9-FCAF-46B1-10B6-7E9DA7C99D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2722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174662B5-4732-7532-0D7C-61F1A5A299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F1CD7E32-2F0E-43C2-8F2D-A0D42A2B20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FA2C38C8-C7C5-2145-7C0E-A903C874AA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4557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D55EA12E-759D-375F-47E1-36772394B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A7AD8EF8-26EA-C012-0A71-2FE94EFFF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57B80958-E452-53A6-68A8-95A3D35F5F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3874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136EDFE1-1E3C-C909-4DFD-C470A6CE9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68E79977-2F06-727C-B3A5-A053E73A1B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BDD0D4B2-3155-B7FC-4602-14FD39E64D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646364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7AF4B246-E1AD-62CB-7EAF-DCED44C71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4FCF7A78-46FA-9FD0-4803-611B2AE92E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9766BC9B-64C4-DEEA-D620-05B3EDB99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26865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B407996B-8B37-6719-986D-C928CE411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48E8BE93-B9E5-5540-08CC-560B927F6C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2DF7846D-C266-919C-36E2-681C08E6B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26577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55273DE0-17BB-FC3D-17B3-4AF8CCA3A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2AF072A6-8CED-55C5-780B-42C4181295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836C28E7-0451-104A-1C63-E193FA5A92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4573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6CB62717-50B0-103F-2B0D-BF9D6BA4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42F8A69F-DB4F-A1F9-3740-9C53C9F571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18385F9A-8F3E-3791-6BB6-BDD41D567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61074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34C9F527-F58F-39FD-8AA9-58F5275CC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C5AB9A86-DC9E-20B1-1596-DD62666043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A4D90D54-36E6-FFE4-18D9-F178C87A21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11674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87157FA7-F6A8-5545-D16C-E001CF47E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AD089ED3-AB9B-C978-F5FD-A96D086FE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7B64858B-77CC-73B9-F13F-0FB8F5C94F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52409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>
          <a:extLst>
            <a:ext uri="{FF2B5EF4-FFF2-40B4-BE49-F238E27FC236}">
              <a16:creationId xmlns:a16="http://schemas.microsoft.com/office/drawing/2014/main" id="{430476B9-2795-071C-E890-2EDF2C53A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f4e53b8aae_0_20:notes">
            <a:extLst>
              <a:ext uri="{FF2B5EF4-FFF2-40B4-BE49-F238E27FC236}">
                <a16:creationId xmlns:a16="http://schemas.microsoft.com/office/drawing/2014/main" id="{8D0D739D-2959-63EF-B869-0C0CED2DBC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f4e53b8aae_0_20:notes">
            <a:extLst>
              <a:ext uri="{FF2B5EF4-FFF2-40B4-BE49-F238E27FC236}">
                <a16:creationId xmlns:a16="http://schemas.microsoft.com/office/drawing/2014/main" id="{4503A298-1192-A5DE-0EF5-EAEE2A9D9B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98087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8DCF67AD-DF33-E3A5-EF16-3F9DA62AA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41313501de_0_0:notes">
            <a:extLst>
              <a:ext uri="{FF2B5EF4-FFF2-40B4-BE49-F238E27FC236}">
                <a16:creationId xmlns:a16="http://schemas.microsoft.com/office/drawing/2014/main" id="{9232860F-8301-71AF-5F90-D5F30B9DC2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41313501de_0_0:notes">
            <a:extLst>
              <a:ext uri="{FF2B5EF4-FFF2-40B4-BE49-F238E27FC236}">
                <a16:creationId xmlns:a16="http://schemas.microsoft.com/office/drawing/2014/main" id="{A790ECBC-9BCA-8BC2-314C-A18E9B770F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0564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oogle Shape;15;p2"/>
          <p:cNvGrpSpPr/>
          <p:nvPr/>
        </p:nvGrpSpPr>
        <p:grpSpPr>
          <a:xfrm>
            <a:off x="-23925" y="-47850"/>
            <a:ext cx="9168025" cy="5194610"/>
            <a:chOff x="-31900" y="-68033"/>
            <a:chExt cx="12224033" cy="6926146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 flipH="1">
              <a:off x="7425125" y="3681413"/>
              <a:ext cx="4763700" cy="3176700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18" name="Google Shape;18;p2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9603442" y="-8467"/>
              <a:ext cx="258617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932333" y="3048000"/>
              <a:ext cx="3259800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69850" tIns="69850" rIns="69850" bIns="69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334500" y="-8467"/>
              <a:ext cx="2850868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10898730" y="-8467"/>
              <a:ext cx="1290094" cy="6858000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10938999" y="-8467"/>
              <a:ext cx="1249825" cy="6858000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10371666" y="3589867"/>
              <a:ext cx="1817100" cy="32682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69850" tIns="69850" rIns="69850" bIns="69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 rot="10800000">
              <a:off x="-31900" y="-68033"/>
              <a:ext cx="874500" cy="57342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69850" tIns="69850" rIns="69850" bIns="6985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" name="Google Shape;26;p2"/>
          <p:cNvSpPr txBox="1">
            <a:spLocks noGrp="1"/>
          </p:cNvSpPr>
          <p:nvPr>
            <p:ph type="ctrTitle"/>
          </p:nvPr>
        </p:nvSpPr>
        <p:spPr>
          <a:xfrm>
            <a:off x="587150" y="1340625"/>
            <a:ext cx="6447300" cy="12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Trebuchet MS"/>
              <a:buNone/>
              <a:defRPr sz="42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subTitle" idx="1"/>
          </p:nvPr>
        </p:nvSpPr>
        <p:spPr>
          <a:xfrm>
            <a:off x="1209350" y="2623200"/>
            <a:ext cx="58251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lvl="0" algn="r">
              <a:spcBef>
                <a:spcPts val="800"/>
              </a:spcBef>
              <a:spcAft>
                <a:spcPts val="0"/>
              </a:spcAft>
              <a:buSzPts val="110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800"/>
              </a:spcBef>
              <a:spcAft>
                <a:spcPts val="0"/>
              </a:spcAft>
              <a:buSzPts val="1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800"/>
              </a:spcBef>
              <a:spcAft>
                <a:spcPts val="0"/>
              </a:spcAft>
              <a:buSzPts val="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800"/>
              </a:spcBef>
              <a:spcAft>
                <a:spcPts val="0"/>
              </a:spcAft>
              <a:buSzPts val="7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2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6050" y="114676"/>
            <a:ext cx="754087" cy="754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98275" y="0"/>
            <a:ext cx="927132" cy="92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1208550" y="158575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body" idx="1"/>
          </p:nvPr>
        </p:nvSpPr>
        <p:spPr>
          <a:xfrm>
            <a:off x="508000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body" idx="2"/>
          </p:nvPr>
        </p:nvSpPr>
        <p:spPr>
          <a:xfrm>
            <a:off x="3817477" y="1620442"/>
            <a:ext cx="3138000" cy="29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7"/>
          <p:cNvSpPr txBox="1">
            <a:spLocks noGrp="1"/>
          </p:cNvSpPr>
          <p:nvPr>
            <p:ph type="title"/>
          </p:nvPr>
        </p:nvSpPr>
        <p:spPr>
          <a:xfrm>
            <a:off x="1208550" y="158575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body" idx="1"/>
          </p:nvPr>
        </p:nvSpPr>
        <p:spPr>
          <a:xfrm>
            <a:off x="506809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body" idx="2"/>
          </p:nvPr>
        </p:nvSpPr>
        <p:spPr>
          <a:xfrm>
            <a:off x="506809" y="2052934"/>
            <a:ext cx="31392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body" idx="3"/>
          </p:nvPr>
        </p:nvSpPr>
        <p:spPr>
          <a:xfrm>
            <a:off x="3816287" y="1620737"/>
            <a:ext cx="3139200" cy="43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None/>
              <a:defRPr sz="1800" b="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200"/>
              <a:buNone/>
              <a:defRPr sz="1500" b="1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 b="1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 b="1"/>
            </a:lvl9pPr>
          </a:lstStyle>
          <a:p>
            <a:endParaRPr/>
          </a:p>
        </p:txBody>
      </p:sp>
      <p:sp>
        <p:nvSpPr>
          <p:cNvPr id="61" name="Google Shape;61;p7"/>
          <p:cNvSpPr txBox="1">
            <a:spLocks noGrp="1"/>
          </p:cNvSpPr>
          <p:nvPr>
            <p:ph type="body" idx="4"/>
          </p:nvPr>
        </p:nvSpPr>
        <p:spPr>
          <a:xfrm>
            <a:off x="3816288" y="2052934"/>
            <a:ext cx="3139200" cy="24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508000" y="1123953"/>
            <a:ext cx="2890800" cy="9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Trebuchet MS"/>
              <a:buNone/>
              <a:defRPr sz="15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body" idx="1"/>
          </p:nvPr>
        </p:nvSpPr>
        <p:spPr>
          <a:xfrm>
            <a:off x="3570346" y="386193"/>
            <a:ext cx="3385200" cy="4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body" idx="2"/>
          </p:nvPr>
        </p:nvSpPr>
        <p:spPr>
          <a:xfrm>
            <a:off x="508000" y="2082802"/>
            <a:ext cx="2890800" cy="19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9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508000" y="3600450"/>
            <a:ext cx="64476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Trebuchet MS"/>
              <a:buNone/>
              <a:defRPr sz="18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508000" y="457200"/>
            <a:ext cx="6447600" cy="28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Autofit/>
          </a:bodyPr>
          <a:lstStyle>
            <a:lvl1pPr marR="0" lvl="0" algn="ctr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None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508000" y="4025503"/>
            <a:ext cx="6447600" cy="5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700"/>
              <a:buNone/>
              <a:defRPr sz="900"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600"/>
              <a:buNone/>
              <a:defRPr sz="800"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500"/>
              <a:buNone/>
              <a:defRPr sz="700"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508001" y="457200"/>
            <a:ext cx="6447600" cy="25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  <a:defRPr sz="3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body" idx="1"/>
          </p:nvPr>
        </p:nvSpPr>
        <p:spPr>
          <a:xfrm>
            <a:off x="508001" y="3352800"/>
            <a:ext cx="6447600" cy="11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>
            <a:spLocks noGrp="1"/>
          </p:cNvSpPr>
          <p:nvPr>
            <p:ph type="title"/>
          </p:nvPr>
        </p:nvSpPr>
        <p:spPr>
          <a:xfrm>
            <a:off x="698500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  <a:defRPr sz="3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body" idx="1"/>
          </p:nvPr>
        </p:nvSpPr>
        <p:spPr>
          <a:xfrm>
            <a:off x="1024604" y="2724150"/>
            <a:ext cx="54183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 sz="12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2"/>
          </p:nvPr>
        </p:nvSpPr>
        <p:spPr>
          <a:xfrm>
            <a:off x="508001" y="3352800"/>
            <a:ext cx="6447600" cy="11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" name="Google Shape;97;p12"/>
          <p:cNvSpPr txBox="1"/>
          <p:nvPr/>
        </p:nvSpPr>
        <p:spPr>
          <a:xfrm>
            <a:off x="406403" y="592783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98" name="Google Shape;98;p12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400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3"/>
          <p:cNvSpPr txBox="1">
            <a:spLocks noGrp="1"/>
          </p:cNvSpPr>
          <p:nvPr>
            <p:ph type="title"/>
          </p:nvPr>
        </p:nvSpPr>
        <p:spPr>
          <a:xfrm>
            <a:off x="508001" y="1448991"/>
            <a:ext cx="6447600" cy="19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  <a:defRPr sz="3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body" idx="1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2" name="Google Shape;102;p13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3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 txBox="1">
            <a:spLocks noGrp="1"/>
          </p:cNvSpPr>
          <p:nvPr>
            <p:ph type="title"/>
          </p:nvPr>
        </p:nvSpPr>
        <p:spPr>
          <a:xfrm>
            <a:off x="698500" y="457200"/>
            <a:ext cx="6070500" cy="2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  <a:defRPr sz="3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4"/>
          <p:cNvSpPr txBox="1">
            <a:spLocks noGrp="1"/>
          </p:cNvSpPr>
          <p:nvPr>
            <p:ph type="body" idx="1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body" idx="2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4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4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06403" y="592783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sz="1100"/>
          </a:p>
        </p:txBody>
      </p:sp>
      <p:sp>
        <p:nvSpPr>
          <p:cNvPr id="113" name="Google Shape;113;p14"/>
          <p:cNvSpPr txBox="1"/>
          <p:nvPr/>
        </p:nvSpPr>
        <p:spPr>
          <a:xfrm>
            <a:off x="6669758" y="2164917"/>
            <a:ext cx="457200" cy="4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00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10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514349" y="457200"/>
            <a:ext cx="6441300" cy="22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Trebuchet MS"/>
              <a:buNone/>
              <a:defRPr sz="3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body" idx="1"/>
          </p:nvPr>
        </p:nvSpPr>
        <p:spPr>
          <a:xfrm>
            <a:off x="507999" y="3009900"/>
            <a:ext cx="6447600" cy="3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b" anchorCtr="0">
            <a:no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400"/>
              <a:buFont typeface="Trebuchet MS"/>
              <a:buNone/>
              <a:defRPr sz="18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000"/>
              <a:buFont typeface="Trebuchet MS"/>
              <a:buNone/>
              <a:defRPr/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800"/>
              <a:buFont typeface="Trebuchet MS"/>
              <a:buNone/>
              <a:defRPr/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700"/>
              <a:buFont typeface="Trebuchet MS"/>
              <a:buNone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2"/>
          </p:nvPr>
        </p:nvSpPr>
        <p:spPr>
          <a:xfrm>
            <a:off x="508001" y="3395586"/>
            <a:ext cx="6447600" cy="11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80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800"/>
              </a:spcBef>
              <a:spcAft>
                <a:spcPts val="0"/>
              </a:spcAft>
              <a:buSzPts val="10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800"/>
              </a:spcBef>
              <a:spcAft>
                <a:spcPts val="0"/>
              </a:spcAft>
              <a:buSzPts val="8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title"/>
          </p:nvPr>
        </p:nvSpPr>
        <p:spPr>
          <a:xfrm>
            <a:off x="1208550" y="158575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6"/>
          <p:cNvSpPr txBox="1">
            <a:spLocks noGrp="1"/>
          </p:cNvSpPr>
          <p:nvPr>
            <p:ph type="body" idx="1"/>
          </p:nvPr>
        </p:nvSpPr>
        <p:spPr>
          <a:xfrm rot="5400000">
            <a:off x="2276402" y="-148058"/>
            <a:ext cx="2910600" cy="6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6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 rot="5400000">
            <a:off x="4495662" y="1937249"/>
            <a:ext cx="3938700" cy="97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 rot="5400000">
            <a:off x="1186264" y="-220950"/>
            <a:ext cx="3938700" cy="52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e Subtítulo">
  <p:cSld name="TITLE_1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9"/>
          <p:cNvSpPr txBox="1">
            <a:spLocks noGrp="1"/>
          </p:cNvSpPr>
          <p:nvPr>
            <p:ph type="title"/>
          </p:nvPr>
        </p:nvSpPr>
        <p:spPr>
          <a:xfrm>
            <a:off x="892969" y="1782310"/>
            <a:ext cx="7358100" cy="12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Helvetica Neue Light"/>
              <a:buNone/>
              <a:defRPr sz="3100" b="0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892969" y="3289927"/>
            <a:ext cx="7358100" cy="5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rmAutofit/>
          </a:bodyPr>
          <a:lstStyle>
            <a:lvl1pPr marL="45720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100"/>
            </a:lvl1pPr>
            <a:lvl2pPr marL="914400" lvl="1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100"/>
            </a:lvl2pPr>
            <a:lvl3pPr marL="1371600" lvl="2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100"/>
            </a:lvl3pPr>
            <a:lvl4pPr marL="1828800" lvl="3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100"/>
            </a:lvl4pPr>
            <a:lvl5pPr marL="2286000" lvl="4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Helvetica Neue Light"/>
              <a:buNone/>
              <a:defRPr sz="2100"/>
            </a:lvl5pPr>
            <a:lvl6pPr marL="2743200" lvl="5" indent="-2857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900"/>
              <a:buChar char="►"/>
              <a:defRPr/>
            </a:lvl6pPr>
            <a:lvl7pPr marL="3200400" lvl="6" indent="-2857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900"/>
              <a:buChar char="►"/>
              <a:defRPr/>
            </a:lvl7pPr>
            <a:lvl8pPr marL="3657600" lvl="7" indent="-2857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900"/>
              <a:buChar char="►"/>
              <a:defRPr/>
            </a:lvl8pPr>
            <a:lvl9pPr marL="4114800" lvl="8" indent="-285750" algn="l" rtl="0">
              <a:lnSpc>
                <a:spcPct val="100000"/>
              </a:lnSpc>
              <a:spcBef>
                <a:spcPts val="2700"/>
              </a:spcBef>
              <a:spcAft>
                <a:spcPts val="0"/>
              </a:spcAft>
              <a:buClr>
                <a:srgbClr val="000000"/>
              </a:buClr>
              <a:buSzPts val="900"/>
              <a:buChar char="►"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/>
          <p:nvPr/>
        </p:nvSpPr>
        <p:spPr>
          <a:xfrm>
            <a:off x="-4399" y="-6697"/>
            <a:ext cx="9152700" cy="882900"/>
          </a:xfrm>
          <a:prstGeom prst="rect">
            <a:avLst/>
          </a:prstGeom>
          <a:solidFill>
            <a:srgbClr val="044005"/>
          </a:solidFill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Helvetica Neue Light"/>
              <a:buNone/>
            </a:pPr>
            <a:endParaRPr sz="23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141" name="Google Shape;141;p19" descr="image2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91483" y="4379490"/>
            <a:ext cx="790278" cy="46211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9"/>
          <p:cNvSpPr/>
          <p:nvPr/>
        </p:nvSpPr>
        <p:spPr>
          <a:xfrm>
            <a:off x="-490" y="890736"/>
            <a:ext cx="9144900" cy="189900"/>
          </a:xfrm>
          <a:prstGeom prst="rect">
            <a:avLst/>
          </a:prstGeom>
          <a:solidFill>
            <a:srgbClr val="515151"/>
          </a:solidFill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Helvetica Neue Light"/>
              <a:buNone/>
            </a:pPr>
            <a:endParaRPr sz="23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5649422" y="1089276"/>
            <a:ext cx="3493200" cy="198300"/>
          </a:xfrm>
          <a:prstGeom prst="rect">
            <a:avLst/>
          </a:prstGeom>
          <a:solidFill>
            <a:srgbClr val="919191"/>
          </a:solidFill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Helvetica Neue Light"/>
              <a:buNone/>
            </a:pPr>
            <a:endParaRPr sz="2300" b="0" i="0" u="none" strike="noStrike" cap="none">
              <a:solidFill>
                <a:srgbClr val="000000"/>
              </a:solidFill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3252716" y="4863984"/>
            <a:ext cx="2638500" cy="24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 Light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LES | DI | PUC-Rio - Brazil</a:t>
            </a:r>
            <a:endParaRPr sz="1500" b="0" i="0" u="none" strike="noStrike" cap="none">
              <a:solidFill>
                <a:srgbClr val="000000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145" name="Google Shape;145;p19"/>
          <p:cNvSpPr txBox="1"/>
          <p:nvPr/>
        </p:nvSpPr>
        <p:spPr>
          <a:xfrm>
            <a:off x="112762" y="4898003"/>
            <a:ext cx="16368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Helvetica Neue"/>
              <a:buNone/>
            </a:pPr>
            <a:r>
              <a:rPr lang="en-US" sz="1000" b="1" i="0" u="none" strike="noStrike" cap="none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OPUS Research Group</a:t>
            </a:r>
            <a:endParaRPr sz="900" dirty="0"/>
          </a:p>
        </p:txBody>
      </p:sp>
      <p:sp>
        <p:nvSpPr>
          <p:cNvPr id="146" name="Google Shape;146;p19"/>
          <p:cNvSpPr txBox="1">
            <a:spLocks noGrp="1"/>
          </p:cNvSpPr>
          <p:nvPr>
            <p:ph type="sldNum" idx="12"/>
          </p:nvPr>
        </p:nvSpPr>
        <p:spPr>
          <a:xfrm>
            <a:off x="4437983" y="4878958"/>
            <a:ext cx="258900" cy="2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750" tIns="32750" rIns="32750" bIns="32750" anchor="t" anchorCtr="0">
            <a:no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70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7" name="Google Shape;147;p19" descr="image1.gif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72962" y="4304209"/>
            <a:ext cx="420279" cy="736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1117650" y="40025"/>
            <a:ext cx="6447600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rebuchet MS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body" idx="1"/>
          </p:nvPr>
        </p:nvSpPr>
        <p:spPr>
          <a:xfrm>
            <a:off x="437450" y="868500"/>
            <a:ext cx="79002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►"/>
              <a:defRPr/>
            </a:lvl9pPr>
          </a:lstStyle>
          <a:p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381897" y="4746447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 sz="1200" b="1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5139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208550" y="158575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Trebuchet MS"/>
              <a:buNone/>
              <a:defRPr sz="28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37450" y="868500"/>
            <a:ext cx="7900200" cy="35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t" anchorCtr="0">
            <a:normAutofit/>
          </a:bodyPr>
          <a:lstStyle>
            <a:lvl1pPr marL="457200" marR="0" lvl="0" indent="-2984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2921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7940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Noto Sans Symbols"/>
              <a:buChar char="►"/>
              <a:defRPr sz="11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73050" algn="l" rtl="0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Noto Sans Symbols"/>
              <a:buChar char="►"/>
              <a:defRPr sz="9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508000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7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442997" y="4531022"/>
            <a:ext cx="512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850" tIns="34925" rIns="69850" bIns="349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7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1"/>
          <p:cNvSpPr/>
          <p:nvPr/>
        </p:nvSpPr>
        <p:spPr>
          <a:xfrm>
            <a:off x="8247394" y="0"/>
            <a:ext cx="896749" cy="5143500"/>
          </a:xfrm>
          <a:custGeom>
            <a:avLst/>
            <a:gdLst/>
            <a:ahLst/>
            <a:cxnLst/>
            <a:rect l="l" t="t" r="r" b="b"/>
            <a:pathLst>
              <a:path w="1249825" h="6858000" extrusionOk="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4709"/>
            </a:schemeClr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2" name="Google Shape;12;p1"/>
          <p:cNvSpPr/>
          <p:nvPr/>
        </p:nvSpPr>
        <p:spPr>
          <a:xfrm>
            <a:off x="0" y="3009819"/>
            <a:ext cx="366900" cy="2133600"/>
          </a:xfrm>
          <a:prstGeom prst="triangle">
            <a:avLst>
              <a:gd name="adj" fmla="val 0"/>
            </a:avLst>
          </a:prstGeom>
          <a:solidFill>
            <a:schemeClr val="accent1">
              <a:alpha val="84710"/>
            </a:schemeClr>
          </a:solidFill>
          <a:ln>
            <a:noFill/>
          </a:ln>
        </p:spPr>
        <p:txBody>
          <a:bodyPr spcFirstLastPara="1" wrap="square" lIns="69850" tIns="69850" rIns="69850" bIns="69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0" y="-175974"/>
            <a:ext cx="906413" cy="90540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5" r:id="rId14"/>
    <p:sldLayoutId id="2147483667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/blob/master/README.md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github.com/IsabelaYabe/tictactoe_activity_ai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github.com/IsabelaYabe/tictactoe_activity_ai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ccsneto/tictactoe_experiment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sabelaYabe/tictactoe_activity_ai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>
            <a:spLocks noGrp="1"/>
          </p:cNvSpPr>
          <p:nvPr>
            <p:ph type="ctrTitle"/>
          </p:nvPr>
        </p:nvSpPr>
        <p:spPr>
          <a:xfrm>
            <a:off x="587150" y="1340625"/>
            <a:ext cx="6447300" cy="1234800"/>
          </a:xfrm>
          <a:prstGeom prst="rect">
            <a:avLst/>
          </a:prstGeom>
        </p:spPr>
        <p:txBody>
          <a:bodyPr spcFirstLastPara="1" wrap="square" lIns="69850" tIns="34925" rIns="69850" bIns="34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Assistentes</a:t>
            </a:r>
            <a:r>
              <a:rPr lang="en-US" sz="2800" dirty="0"/>
              <a:t> de AI </a:t>
            </a:r>
            <a:r>
              <a:rPr lang="en-US" sz="2800" dirty="0" err="1"/>
              <a:t>generativa</a:t>
            </a:r>
            <a:r>
              <a:rPr lang="en-US" sz="2800" dirty="0"/>
              <a:t> e o </a:t>
            </a:r>
            <a:r>
              <a:rPr lang="en-US" sz="2800" dirty="0" err="1"/>
              <a:t>risco</a:t>
            </a:r>
            <a:r>
              <a:rPr lang="en-US" sz="2800" dirty="0"/>
              <a:t> da </a:t>
            </a:r>
            <a:r>
              <a:rPr lang="en-US" sz="2800" dirty="0" err="1"/>
              <a:t>Dívida</a:t>
            </a:r>
            <a:r>
              <a:rPr lang="en-US" sz="2800" dirty="0"/>
              <a:t> </a:t>
            </a:r>
            <a:r>
              <a:rPr lang="en-US" sz="2800" dirty="0" err="1"/>
              <a:t>Cognitiva</a:t>
            </a:r>
            <a:r>
              <a:rPr lang="en-US" sz="2800" dirty="0"/>
              <a:t> - </a:t>
            </a:r>
            <a:r>
              <a:rPr lang="en-US" sz="2800" dirty="0" err="1"/>
              <a:t>Exercício</a:t>
            </a:r>
            <a:endParaRPr sz="2800" dirty="0"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1"/>
          </p:nvPr>
        </p:nvSpPr>
        <p:spPr>
          <a:xfrm>
            <a:off x="1209350" y="2616125"/>
            <a:ext cx="5825100" cy="8226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marL="0" lvl="0" indent="0" algn="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INF1028 e INF1045</a:t>
            </a:r>
            <a:endParaRPr/>
          </a:p>
        </p:txBody>
      </p:sp>
      <p:sp>
        <p:nvSpPr>
          <p:cNvPr id="154" name="Google Shape;154;p20"/>
          <p:cNvSpPr txBox="1"/>
          <p:nvPr/>
        </p:nvSpPr>
        <p:spPr>
          <a:xfrm>
            <a:off x="2124000" y="3311075"/>
            <a:ext cx="4896000" cy="180559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Alessandro Garcia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Isabela Yabe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Vicente Neto</a:t>
            </a: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None/>
            </a:pPr>
            <a:endParaRPr sz="1200" dirty="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rgbClr val="BFBFB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5223AB80-608C-6755-FE38-A90B8D140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53B381-72C0-E81A-3FE2-F23D50724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188457"/>
            <a:ext cx="7349968" cy="3950608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FA83B68D-F176-38AD-BBB2-DDD46CFB33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D76B7-266D-8E03-DFFB-EB97D14246A7}"/>
              </a:ext>
            </a:extLst>
          </p:cNvPr>
          <p:cNvSpPr txBox="1"/>
          <p:nvPr/>
        </p:nvSpPr>
        <p:spPr>
          <a:xfrm>
            <a:off x="731520" y="753934"/>
            <a:ext cx="714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b="0" i="0" dirty="0">
                <a:solidFill>
                  <a:srgbClr val="1F2328"/>
                </a:solidFill>
                <a:effectLst/>
                <a:latin typeface="Mona Sans VF"/>
              </a:rPr>
              <a:t>Configure o GitHub copilot para utilizar o OpenRouter como provedor, clicando na lista </a:t>
            </a:r>
            <a:r>
              <a:rPr lang="pt-BR" sz="1200" dirty="0">
                <a:solidFill>
                  <a:srgbClr val="1F2328"/>
                </a:solidFill>
                <a:latin typeface="Mona Sans VF"/>
              </a:rPr>
              <a:t>de modelos =&gt; Other Models  =&gt; Manage Language Models (⚙️)</a:t>
            </a:r>
            <a:endParaRPr lang="pt-BR" sz="120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555844-A5FA-3DF0-0FF3-57315E108509}"/>
              </a:ext>
            </a:extLst>
          </p:cNvPr>
          <p:cNvSpPr/>
          <p:nvPr/>
        </p:nvSpPr>
        <p:spPr>
          <a:xfrm>
            <a:off x="6550304" y="3838394"/>
            <a:ext cx="834432" cy="113691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5" name="Page Number 5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3238725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0E7D6732-F45C-D788-FE7B-D074250E5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6E6A4E-E080-BE3B-F104-C9B7A14DF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201157"/>
            <a:ext cx="7349968" cy="3950608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BBEC7C56-5554-E8C0-2FDB-DAB2CE6C32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895D12-DA39-6442-5DDB-D39D08D9E643}"/>
              </a:ext>
            </a:extLst>
          </p:cNvPr>
          <p:cNvSpPr txBox="1"/>
          <p:nvPr/>
        </p:nvSpPr>
        <p:spPr>
          <a:xfrm>
            <a:off x="731520" y="753934"/>
            <a:ext cx="714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b="0" i="0" dirty="0">
                <a:solidFill>
                  <a:srgbClr val="1F2328"/>
                </a:solidFill>
                <a:effectLst/>
                <a:latin typeface="Mona Sans VF"/>
              </a:rPr>
              <a:t>Clique em + Add Models... =&gt; OpenRouter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C23BA4-2808-D64E-A73D-1D5F8AAB48C5}"/>
              </a:ext>
            </a:extLst>
          </p:cNvPr>
          <p:cNvSpPr/>
          <p:nvPr/>
        </p:nvSpPr>
        <p:spPr>
          <a:xfrm>
            <a:off x="6656984" y="1750514"/>
            <a:ext cx="834432" cy="1136915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6F54E07-603F-D0F4-0728-C8BBB077AA3B}"/>
              </a:ext>
            </a:extLst>
          </p:cNvPr>
          <p:cNvSpPr/>
          <p:nvPr/>
        </p:nvSpPr>
        <p:spPr>
          <a:xfrm flipH="1">
            <a:off x="7406640" y="2250440"/>
            <a:ext cx="640080" cy="461665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6" name="Page Number 6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2257088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01665B12-3651-C771-4897-76B49CEF0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28B4B1B-9154-22E7-2884-A9DCAE7A7F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205391"/>
            <a:ext cx="7349968" cy="3950608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55F655E2-69B5-4723-70D0-0BF843D011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9EC22F-BAF0-27CC-64B5-E172ACD0E93C}"/>
              </a:ext>
            </a:extLst>
          </p:cNvPr>
          <p:cNvSpPr txBox="1"/>
          <p:nvPr/>
        </p:nvSpPr>
        <p:spPr>
          <a:xfrm>
            <a:off x="731520" y="753934"/>
            <a:ext cx="714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dirty="0">
                <a:solidFill>
                  <a:srgbClr val="1F2328"/>
                </a:solidFill>
                <a:latin typeface="Mona Sans VF"/>
              </a:rPr>
              <a:t>No díalogo Group Name, i</a:t>
            </a:r>
            <a:r>
              <a:rPr lang="pt-BR" sz="1200" b="0" i="0" dirty="0">
                <a:solidFill>
                  <a:srgbClr val="1F2328"/>
                </a:solidFill>
                <a:effectLst/>
                <a:latin typeface="Mona Sans VF"/>
              </a:rPr>
              <a:t>nforme OpenRouter e pressione &lt;Enter&gt;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B4A538-00E9-1701-DBF8-2B9C1AF6E7B5}"/>
              </a:ext>
            </a:extLst>
          </p:cNvPr>
          <p:cNvSpPr/>
          <p:nvPr/>
        </p:nvSpPr>
        <p:spPr>
          <a:xfrm>
            <a:off x="3390544" y="1211742"/>
            <a:ext cx="2385416" cy="45780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7" name="Page Number 7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3120879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857C2A96-4D10-DE77-0819-2F67F5C2F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B1CABA-2E4D-4EBC-1B32-BD49AB819C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190572"/>
            <a:ext cx="7349968" cy="3950608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C0BADD55-D9E4-6B89-1D14-CD42029CF7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AFDFAF-60D5-9826-D183-DD694E587157}"/>
              </a:ext>
            </a:extLst>
          </p:cNvPr>
          <p:cNvSpPr txBox="1"/>
          <p:nvPr/>
        </p:nvSpPr>
        <p:spPr>
          <a:xfrm>
            <a:off x="731520" y="753934"/>
            <a:ext cx="714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dirty="0">
                <a:solidFill>
                  <a:srgbClr val="1F2328"/>
                </a:solidFill>
                <a:latin typeface="Mona Sans VF"/>
              </a:rPr>
              <a:t>No díalogo OpenRouter API Key, i</a:t>
            </a:r>
            <a:r>
              <a:rPr lang="pt-BR" sz="1200" b="0" i="0" dirty="0">
                <a:solidFill>
                  <a:srgbClr val="1F2328"/>
                </a:solidFill>
                <a:effectLst/>
                <a:latin typeface="Mona Sans VF"/>
              </a:rPr>
              <a:t>nforme a chave* OpenRouter recebida por e-mail e pressione &lt;Enter 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4CDDF6-29FE-D66E-F15A-C602362D7011}"/>
              </a:ext>
            </a:extLst>
          </p:cNvPr>
          <p:cNvSpPr/>
          <p:nvPr/>
        </p:nvSpPr>
        <p:spPr>
          <a:xfrm>
            <a:off x="3390544" y="1211742"/>
            <a:ext cx="2385416" cy="45780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8" name="Page Number 8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8 / 18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FA3CABE1-B747-F58D-D02E-4560CEBDD233}"/>
              </a:ext>
            </a:extLst>
          </p:cNvPr>
          <p:cNvSpPr/>
          <p:nvPr/>
        </p:nvSpPr>
        <p:spPr>
          <a:xfrm flipH="1">
            <a:off x="5829123" y="1096203"/>
            <a:ext cx="1994113" cy="627895"/>
          </a:xfrm>
          <a:prstGeom prst="rightArrow">
            <a:avLst/>
          </a:prstGeom>
          <a:solidFill>
            <a:srgbClr val="FFFF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4818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2DDD2EF1-ED20-F51E-5619-A6BE3BF4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4023B97-C82B-4E0F-55D8-F113D76F4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191634"/>
            <a:ext cx="7352309" cy="3951866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545E1D5F-1FD5-39DF-574D-33981AB6E6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325303-3568-5145-C5AF-59F0B8D5ECE0}"/>
              </a:ext>
            </a:extLst>
          </p:cNvPr>
          <p:cNvSpPr txBox="1"/>
          <p:nvPr/>
        </p:nvSpPr>
        <p:spPr>
          <a:xfrm>
            <a:off x="731520" y="753934"/>
            <a:ext cx="714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b="1" dirty="0">
                <a:solidFill>
                  <a:srgbClr val="1F2328"/>
                </a:solidFill>
                <a:latin typeface="Mona Sans VF"/>
              </a:rPr>
              <a:t>Para maior conveniência</a:t>
            </a:r>
            <a:r>
              <a:rPr lang="pt-BR" sz="1200" dirty="0">
                <a:solidFill>
                  <a:srgbClr val="1F2328"/>
                </a:solidFill>
                <a:latin typeface="Mona Sans VF"/>
              </a:rPr>
              <a:t>, pesquise por DeepSeek V4 Flash 0423, clique com o </a:t>
            </a:r>
            <a:r>
              <a:rPr lang="pt-BR" sz="1200" b="1" dirty="0">
                <a:solidFill>
                  <a:srgbClr val="1F2328"/>
                </a:solidFill>
                <a:latin typeface="Mona Sans VF"/>
              </a:rPr>
              <a:t>botão direito</a:t>
            </a:r>
            <a:r>
              <a:rPr lang="pt-BR" sz="1200" dirty="0">
                <a:solidFill>
                  <a:srgbClr val="1F2328"/>
                </a:solidFill>
                <a:latin typeface="Mona Sans VF"/>
              </a:rPr>
              <a:t> sobre o modelo e selecione </a:t>
            </a:r>
            <a:r>
              <a:rPr lang="pt-BR" sz="1200" b="1" dirty="0">
                <a:solidFill>
                  <a:srgbClr val="1F2328"/>
                </a:solidFill>
                <a:latin typeface="Mona Sans VF"/>
              </a:rPr>
              <a:t>Pin Model</a:t>
            </a:r>
            <a:endParaRPr lang="pt-BR" sz="1200" b="1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C04B59-30C4-23C6-E39C-5C2EC2B6D868}"/>
              </a:ext>
            </a:extLst>
          </p:cNvPr>
          <p:cNvSpPr/>
          <p:nvPr/>
        </p:nvSpPr>
        <p:spPr>
          <a:xfrm>
            <a:off x="1723303" y="1732190"/>
            <a:ext cx="607782" cy="135596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4EB6A5-4537-2F5E-F449-98FA1D9BDB06}"/>
              </a:ext>
            </a:extLst>
          </p:cNvPr>
          <p:cNvSpPr/>
          <p:nvPr/>
        </p:nvSpPr>
        <p:spPr>
          <a:xfrm>
            <a:off x="2639862" y="2218668"/>
            <a:ext cx="391205" cy="113899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9" name="Page Number 9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2001422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CA3D5BCF-AF72-5044-D24A-3F8E1CD23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38AD6C7-93C2-7D98-E2FD-AE90D270F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190574"/>
            <a:ext cx="7354281" cy="3952926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F099BF3D-0F65-AEAD-895A-3C9FA3B0BE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DEA52C-7FD0-952E-6BD0-E0128EA2265B}"/>
              </a:ext>
            </a:extLst>
          </p:cNvPr>
          <p:cNvSpPr txBox="1"/>
          <p:nvPr/>
        </p:nvSpPr>
        <p:spPr>
          <a:xfrm>
            <a:off x="731520" y="753934"/>
            <a:ext cx="7147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dirty="0">
                <a:solidFill>
                  <a:srgbClr val="1F2328"/>
                </a:solidFill>
                <a:latin typeface="Mona Sans VF"/>
              </a:rPr>
              <a:t>Feche o diálogo e selecione o modelo na lista de modelos</a:t>
            </a:r>
            <a:endParaRPr lang="pt-BR" sz="120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A2EA92-30E5-74C2-6166-FC333B41BA15}"/>
              </a:ext>
            </a:extLst>
          </p:cNvPr>
          <p:cNvSpPr/>
          <p:nvPr/>
        </p:nvSpPr>
        <p:spPr>
          <a:xfrm>
            <a:off x="6553780" y="3363686"/>
            <a:ext cx="1606284" cy="159423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317379F-3014-F913-E230-CA81DCFDC4DC}"/>
              </a:ext>
            </a:extLst>
          </p:cNvPr>
          <p:cNvSpPr/>
          <p:nvPr/>
        </p:nvSpPr>
        <p:spPr>
          <a:xfrm flipH="1">
            <a:off x="8160064" y="3993673"/>
            <a:ext cx="640080" cy="461665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10" name="Page Number 10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559503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BBFA5461-C483-2A8C-E53E-6BE68E334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AEB62A5-36B2-81D6-CD52-A95086D81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16" y="1190574"/>
            <a:ext cx="7349968" cy="3950608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3C15D577-8741-8B36-E06F-7056754614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C7562D-4510-9764-221D-85B46C4512B3}"/>
              </a:ext>
            </a:extLst>
          </p:cNvPr>
          <p:cNvSpPr txBox="1"/>
          <p:nvPr/>
        </p:nvSpPr>
        <p:spPr>
          <a:xfrm>
            <a:off x="731520" y="753934"/>
            <a:ext cx="7147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lang="pt-BR" sz="1200" dirty="0">
                <a:solidFill>
                  <a:srgbClr val="1F2328"/>
                </a:solidFill>
                <a:latin typeface="Mona Sans VF"/>
              </a:rPr>
              <a:t>Você deve operar em modo "Agent" e, preferencialmente habilitar "Auto Pilot" nas permissões de ação do Agente (ele vai pedir muitas confirmações durante o processo se você não permitir)</a:t>
            </a:r>
            <a:endParaRPr lang="pt-BR" sz="120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0E580BE-6C6D-5C6E-4FD7-24253AE6D705}"/>
              </a:ext>
            </a:extLst>
          </p:cNvPr>
          <p:cNvSpPr/>
          <p:nvPr/>
        </p:nvSpPr>
        <p:spPr>
          <a:xfrm>
            <a:off x="6170750" y="4519847"/>
            <a:ext cx="2048420" cy="583627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11" name="Page Number 11"/>
          <p:cNvSpPr txBox="1"/>
          <p:nvPr/>
        </p:nvSpPr>
        <p:spPr>
          <a:xfrm>
            <a:off x="8050000" y="4780000"/>
            <a:ext cx="900000" cy="2800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pt-BR" sz="900">
                <a:solidFill>
                  <a:srgbClr val="808080"/>
                </a:solidFill>
                <a:latin typeface="Helvetica Neue"/>
              </a:rPr>
              <a:t>11 / 18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397FCC05-C979-0BC9-50FA-0ECD955BEC94}"/>
              </a:ext>
            </a:extLst>
          </p:cNvPr>
          <p:cNvSpPr/>
          <p:nvPr/>
        </p:nvSpPr>
        <p:spPr>
          <a:xfrm rot="10800000" flipH="1">
            <a:off x="6122076" y="4780028"/>
            <a:ext cx="213595" cy="194225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C4364147-6374-F52A-87B2-AFF4812B59C7}"/>
              </a:ext>
            </a:extLst>
          </p:cNvPr>
          <p:cNvSpPr/>
          <p:nvPr/>
        </p:nvSpPr>
        <p:spPr>
          <a:xfrm flipH="1">
            <a:off x="6988380" y="4909250"/>
            <a:ext cx="213595" cy="194225"/>
          </a:xfrm>
          <a:prstGeom prst="rightArrow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744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C821203B-07C1-CEE1-C9E2-E07D6B8DB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79B4BB56-F43A-A6AA-F988-6A8DC70409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66ACB-B9C2-A45F-0E67-16CD0E7E93E6}"/>
              </a:ext>
            </a:extLst>
          </p:cNvPr>
          <p:cNvSpPr txBox="1"/>
          <p:nvPr/>
        </p:nvSpPr>
        <p:spPr>
          <a:xfrm>
            <a:off x="2296433" y="4724171"/>
            <a:ext cx="66342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https://github.com/IsabelaYabe/tictactoe_activity_ai/blob/master/README.md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8D015-2DE6-9F74-39C0-345AFE5F6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5127" y="651596"/>
            <a:ext cx="3285044" cy="39941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70379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3BADABB6-0DB8-E1AD-73E7-6C322CDB1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E1A46C-A140-F000-0A6D-B9445672E0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641730"/>
            <a:ext cx="7467600" cy="4013835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8E8406D4-117A-9419-3621-C738B7C06F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0AB356-A848-4113-E0D1-F6F1984488CE}"/>
              </a:ext>
            </a:extLst>
          </p:cNvPr>
          <p:cNvSpPr txBox="1"/>
          <p:nvPr/>
        </p:nvSpPr>
        <p:spPr>
          <a:xfrm>
            <a:off x="4447552" y="47535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https://github.com/IsabelaYabe/tictactoe_activity_ai</a:t>
            </a:r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45327-5832-674B-014F-7DEB2CE30971}"/>
              </a:ext>
            </a:extLst>
          </p:cNvPr>
          <p:cNvSpPr/>
          <p:nvPr/>
        </p:nvSpPr>
        <p:spPr>
          <a:xfrm>
            <a:off x="5530850" y="1348740"/>
            <a:ext cx="446617" cy="18796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71203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0EC396E9-80F8-B9C8-B43B-8CD917ED5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A389815D-2532-2C12-C5AE-219880288E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373914-DF84-5F52-841A-2F841778B08B}"/>
              </a:ext>
            </a:extLst>
          </p:cNvPr>
          <p:cNvSpPr txBox="1"/>
          <p:nvPr/>
        </p:nvSpPr>
        <p:spPr>
          <a:xfrm>
            <a:off x="4405097" y="473396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BD14FF-05B2-4320-CCFC-0B0811F68E3D}"/>
              </a:ext>
            </a:extLst>
          </p:cNvPr>
          <p:cNvSpPr txBox="1"/>
          <p:nvPr/>
        </p:nvSpPr>
        <p:spPr>
          <a:xfrm>
            <a:off x="731520" y="753934"/>
            <a:ext cx="714756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pt-BR" b="0" i="0" dirty="0">
                <a:solidFill>
                  <a:srgbClr val="1F2328"/>
                </a:solidFill>
                <a:effectLst/>
                <a:latin typeface="Mona Sans VF"/>
              </a:rPr>
              <a:t>Para iniciar o trabalho, você deve criar a sua própria versão (fork) do repositório base e configurar o upstream:</a:t>
            </a: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Mona Sans VF"/>
              </a:rPr>
              <a:t>Acesse o repositório original e clique no botão </a:t>
            </a:r>
            <a:r>
              <a:rPr lang="pt-BR" b="1" i="0" dirty="0">
                <a:solidFill>
                  <a:srgbClr val="1F2328"/>
                </a:solidFill>
                <a:effectLst/>
                <a:latin typeface="Mona Sans VF"/>
              </a:rPr>
              <a:t>Fork</a:t>
            </a:r>
            <a:r>
              <a:rPr lang="pt-BR" b="0" i="0" dirty="0">
                <a:solidFill>
                  <a:srgbClr val="1F2328"/>
                </a:solidFill>
                <a:effectLst/>
                <a:latin typeface="Mona Sans VF"/>
              </a:rPr>
              <a:t>: </a:t>
            </a:r>
            <a:r>
              <a:rPr lang="pt-BR" b="0" i="0" u="sng" dirty="0">
                <a:solidFill>
                  <a:srgbClr val="0969DA"/>
                </a:solidFill>
                <a:effectLst/>
                <a:latin typeface="Mona Sans VF"/>
                <a:hlinkClick r:id="rId3"/>
              </a:rPr>
              <a:t>https://github.com/IsabelaYabe/tictactoe_activity_ai</a:t>
            </a:r>
            <a:endParaRPr lang="pt-B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r>
              <a:rPr lang="pt-BR" b="0" i="0" dirty="0">
                <a:solidFill>
                  <a:srgbClr val="1F2328"/>
                </a:solidFill>
                <a:effectLst/>
                <a:latin typeface="Mona Sans VF"/>
              </a:rPr>
              <a:t>Clone o repositório "forkado" para o seu ambiente local:</a:t>
            </a:r>
          </a:p>
          <a:p>
            <a:pPr algn="l">
              <a:spcAft>
                <a:spcPts val="1200"/>
              </a:spcAft>
              <a:buFont typeface="+mj-lt"/>
              <a:buAutoNum type="arabicPeriod"/>
            </a:pPr>
            <a:endParaRPr lang="pt-BR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 latinLnBrk="0">
              <a:spcAft>
                <a:spcPts val="1200"/>
              </a:spcAft>
            </a:pPr>
            <a:endParaRPr lang="pt-BR" b="0" i="0" dirty="0">
              <a:solidFill>
                <a:srgbClr val="1F2328"/>
              </a:solidFill>
              <a:effectLst/>
              <a:highlight>
                <a:srgbClr val="C0C0C0"/>
              </a:highlight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593D17-E283-E080-D68E-FFCEA50DDDB5}"/>
              </a:ext>
            </a:extLst>
          </p:cNvPr>
          <p:cNvSpPr txBox="1"/>
          <p:nvPr/>
        </p:nvSpPr>
        <p:spPr>
          <a:xfrm>
            <a:off x="464820" y="2381292"/>
            <a:ext cx="7564754" cy="11079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0">
              <a:spcAft>
                <a:spcPts val="1200"/>
              </a:spcAft>
            </a:pPr>
            <a:r>
              <a:rPr lang="pt-BR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git clone https://github.com/SEU_USUARIO/tictactoe_</a:t>
            </a: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activity_ai</a:t>
            </a:r>
            <a:r>
              <a:rPr lang="pt-BR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.git</a:t>
            </a:r>
            <a:br>
              <a:rPr lang="pt-BR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br>
              <a:rPr lang="pt-BR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</a:br>
            <a:r>
              <a:rPr lang="pt-BR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cd tictactoe_activity_ai</a:t>
            </a:r>
          </a:p>
          <a:p>
            <a:pPr algn="l" latinLnBrk="0">
              <a:spcAft>
                <a:spcPts val="1200"/>
              </a:spcAft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code .</a:t>
            </a:r>
          </a:p>
        </p:txBody>
      </p:sp>
    </p:spTree>
    <p:extLst>
      <p:ext uri="{BB962C8B-B14F-4D97-AF65-F5344CB8AC3E}">
        <p14:creationId xmlns:p14="http://schemas.microsoft.com/office/powerpoint/2010/main" val="42785808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FFA8B779-5C91-1F30-351A-33778514C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51E2D00D-4139-6C32-1061-7E5C6A8BCF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C919DA-43BE-EB60-8DEA-A2960917819A}"/>
              </a:ext>
            </a:extLst>
          </p:cNvPr>
          <p:cNvSpPr txBox="1"/>
          <p:nvPr/>
        </p:nvSpPr>
        <p:spPr>
          <a:xfrm>
            <a:off x="4303861" y="475356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379A99-C85D-D3B5-9D22-B52812592D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550" y="594903"/>
            <a:ext cx="4474867" cy="410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354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A3A18840-AA62-EB45-29D7-291E28D46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C232E784-A778-03FF-98A5-E63151C5A1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74DEE-9D2D-F371-630F-6A39FE4BCB00}"/>
              </a:ext>
            </a:extLst>
          </p:cNvPr>
          <p:cNvSpPr txBox="1"/>
          <p:nvPr/>
        </p:nvSpPr>
        <p:spPr>
          <a:xfrm>
            <a:off x="3105150" y="4724171"/>
            <a:ext cx="543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 </a:t>
            </a:r>
            <a:r>
              <a:rPr lang="en-US" dirty="0" err="1"/>
              <a:t>aplicação</a:t>
            </a:r>
            <a:r>
              <a:rPr lang="en-US" dirty="0"/>
              <a:t> </a:t>
            </a:r>
            <a:r>
              <a:rPr lang="en-US" dirty="0" err="1"/>
              <a:t>pode</a:t>
            </a:r>
            <a:r>
              <a:rPr lang="en-US" dirty="0"/>
              <a:t> ser </a:t>
            </a:r>
            <a:r>
              <a:rPr lang="en-US" dirty="0" err="1"/>
              <a:t>rodada</a:t>
            </a:r>
            <a:r>
              <a:rPr lang="en-US" dirty="0"/>
              <a:t> </a:t>
            </a:r>
            <a:r>
              <a:rPr lang="en-US" dirty="0" err="1"/>
              <a:t>diretamente</a:t>
            </a:r>
            <a:r>
              <a:rPr lang="en-US" dirty="0"/>
              <a:t> do </a:t>
            </a:r>
            <a:r>
              <a:rPr lang="en-US" dirty="0" err="1"/>
              <a:t>arquivo</a:t>
            </a:r>
            <a:r>
              <a:rPr lang="en-US" dirty="0"/>
              <a:t> index.html</a:t>
            </a: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98678-9954-1789-D8D9-A3BBE17D4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99" y="662921"/>
            <a:ext cx="7220001" cy="406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0639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32D6464D-DCFF-C288-8B8E-7CD832EEE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5DB1EDF7-8D26-F2F8-2730-1C2C69F626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2378E-573A-0DF7-F986-D715E8DD1A50}"/>
              </a:ext>
            </a:extLst>
          </p:cNvPr>
          <p:cNvSpPr txBox="1"/>
          <p:nvPr/>
        </p:nvSpPr>
        <p:spPr>
          <a:xfrm>
            <a:off x="3352800" y="4724171"/>
            <a:ext cx="5438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Os</a:t>
            </a:r>
            <a:r>
              <a:rPr lang="en-US" dirty="0"/>
              <a:t> testes </a:t>
            </a:r>
            <a:r>
              <a:rPr lang="en-US" dirty="0" err="1"/>
              <a:t>são</a:t>
            </a:r>
            <a:r>
              <a:rPr lang="en-US" dirty="0"/>
              <a:t> </a:t>
            </a:r>
            <a:r>
              <a:rPr lang="en-US" dirty="0" err="1"/>
              <a:t>executados</a:t>
            </a:r>
            <a:r>
              <a:rPr lang="en-US" dirty="0"/>
              <a:t> a </a:t>
            </a:r>
            <a:r>
              <a:rPr lang="en-US" dirty="0" err="1"/>
              <a:t>partir</a:t>
            </a:r>
            <a:r>
              <a:rPr lang="en-US" dirty="0"/>
              <a:t> da </a:t>
            </a:r>
            <a:r>
              <a:rPr lang="en-US" dirty="0" err="1"/>
              <a:t>própria</a:t>
            </a:r>
            <a:r>
              <a:rPr lang="en-US" dirty="0"/>
              <a:t> interface 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247258-FACF-7C75-A755-7C32CBAC1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1275" y="680517"/>
            <a:ext cx="4440355" cy="404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929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A5F6E166-D8DC-7F6A-DAD3-4A83E54C1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7359C90A-F349-3727-D259-C752235DAA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050EA-0791-4878-8855-39316F350540}"/>
              </a:ext>
            </a:extLst>
          </p:cNvPr>
          <p:cNvSpPr txBox="1"/>
          <p:nvPr/>
        </p:nvSpPr>
        <p:spPr>
          <a:xfrm>
            <a:off x="4414894" y="476428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B4D20C-8FC3-7C38-9E93-549AE3549301}"/>
              </a:ext>
            </a:extLst>
          </p:cNvPr>
          <p:cNvSpPr txBox="1"/>
          <p:nvPr/>
        </p:nvSpPr>
        <p:spPr>
          <a:xfrm>
            <a:off x="624840" y="640080"/>
            <a:ext cx="793496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1: Emojis no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lugar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de X e O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Nesta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primeira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missão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deve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substituir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símbolos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tradicionais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 X e 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do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jogo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velha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por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emojis: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Onde era X,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passará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 ser 🐱 (cat face).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Onde era O,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passará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 ser 🐶 (dog face).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⚠️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Regras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da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1 (Pipeline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MasteryAware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):</a:t>
            </a:r>
            <a:endParaRPr lang="en-GB" sz="1200" b="0" i="0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Durante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esta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etapa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assistente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operará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sob as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regras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do pipeline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MasteryAware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projetado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para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garantir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se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mantenha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como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"designer do software"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em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vez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apenas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um revisor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passivo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código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gerado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Passo 1: Todo.md (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Especificação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Formal):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Antes do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gerar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qualquer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código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para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 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deve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preencher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manualmente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arquivo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brainsback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/TODO.md. Ele serve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como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sua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lousa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para articular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problema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requisitos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critérios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sucesso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 O Copilot é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proibido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editar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arquivo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; se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tentar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pedir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ajuda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sem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preenchê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-lo,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ele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se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recusará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codificar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Passo 2: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Implementação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Assitida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: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Uma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vez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 TODO.md for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preenchido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com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suas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diretrizes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e o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formarão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uma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dupla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(</a:t>
            </a:r>
            <a:r>
              <a:rPr lang="en-GB" sz="1200" b="0" i="1" dirty="0">
                <a:solidFill>
                  <a:srgbClr val="000000"/>
                </a:solidFill>
                <a:effectLst/>
                <a:latin typeface="Arial"/>
              </a:rPr>
              <a:t>Pair Programming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).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Interaja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naturalmente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com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agente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para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atingir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objetivo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realizando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testes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contínuos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solução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 O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eventualmente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gerará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um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artefato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autônomo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relatório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(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brainsback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/REPORT.md)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resumindo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construiu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  <a:endParaRPr lang="en-GB" sz="110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26569096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FCDDBC58-BF26-87E2-C766-AFC71210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682604BD-23B4-9FAD-75C8-0F5A6947ED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BAAD0-F717-BDFD-63DD-555401AA0E53}"/>
              </a:ext>
            </a:extLst>
          </p:cNvPr>
          <p:cNvSpPr txBox="1"/>
          <p:nvPr/>
        </p:nvSpPr>
        <p:spPr>
          <a:xfrm>
            <a:off x="4242163" y="4795698"/>
            <a:ext cx="459450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75033-2EBF-DB44-34E2-884014B8C514}"/>
              </a:ext>
            </a:extLst>
          </p:cNvPr>
          <p:cNvSpPr txBox="1"/>
          <p:nvPr/>
        </p:nvSpPr>
        <p:spPr>
          <a:xfrm>
            <a:off x="416560" y="624839"/>
            <a:ext cx="8270240" cy="43550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Passo 3: REACTO.md (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Prova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Domínio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Após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a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implementação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concluir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, 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elaborará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ativamente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artefato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brainsback/REACTO.md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unindo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a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análise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sumário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gerado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pela IA com a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conferência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das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linhas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código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formato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REACTO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significa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: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R (Repeat):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Reafirme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problema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com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suas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próprias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palavras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E (Examples):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exemplos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de entrada/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saída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(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ou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ação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/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resultado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)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em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casos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de teste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na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vida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real.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A (Approach):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Qual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estratégia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em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alto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nível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foi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utilizada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para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solucionar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problema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?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C (Code):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Exponha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trechos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mais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cruciais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funções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realizam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quê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em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quais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arquivos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estão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definidas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e quem as chama.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T (Test):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Rastreie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resultados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relatando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testes 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cenários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experimentados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(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manuais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automáticos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).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O (Optimize):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Sugira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melhorias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complexidade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ou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discuta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"trade-offs"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estabelecidos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na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implementação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 Nem sempre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isso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se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aplica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pode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deve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fazer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qualquer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questionamento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ou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tirar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dúvidas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com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próprio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GitHub Copilot e/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ou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com o professor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durante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processo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Antes de 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fazer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 o commit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deve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perguntar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1" i="0" dirty="0" err="1">
                <a:solidFill>
                  <a:srgbClr val="000000"/>
                </a:solidFill>
                <a:effectLst/>
                <a:latin typeface="Arial"/>
              </a:rPr>
              <a:t>ao</a:t>
            </a:r>
            <a:r>
              <a:rPr lang="en-GB" sz="1100" b="1" i="0" dirty="0">
                <a:solidFill>
                  <a:srgbClr val="000000"/>
                </a:solidFill>
                <a:effectLst/>
                <a:latin typeface="Arial"/>
              </a:rPr>
              <a:t> Copilot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: 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"Minha </a:t>
            </a:r>
            <a:r>
              <a:rPr lang="en-GB" sz="1100" b="0" i="1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1" dirty="0" err="1">
                <a:solidFill>
                  <a:srgbClr val="000000"/>
                </a:solidFill>
                <a:effectLst/>
                <a:latin typeface="Arial"/>
              </a:rPr>
              <a:t>está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1" dirty="0" err="1">
                <a:solidFill>
                  <a:srgbClr val="000000"/>
                </a:solidFill>
                <a:effectLst/>
                <a:latin typeface="Arial"/>
              </a:rPr>
              <a:t>pronta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 para commit e de </a:t>
            </a:r>
            <a:r>
              <a:rPr lang="en-GB" sz="1100" b="0" i="1" dirty="0" err="1">
                <a:solidFill>
                  <a:srgbClr val="000000"/>
                </a:solidFill>
                <a:effectLst/>
                <a:latin typeface="Arial"/>
              </a:rPr>
              <a:t>acordo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 com as </a:t>
            </a:r>
            <a:r>
              <a:rPr lang="en-GB" sz="1100" b="0" i="1" dirty="0" err="1">
                <a:solidFill>
                  <a:srgbClr val="000000"/>
                </a:solidFill>
                <a:effectLst/>
                <a:latin typeface="Arial"/>
              </a:rPr>
              <a:t>regras</a:t>
            </a:r>
            <a:r>
              <a:rPr lang="en-GB" sz="1100" b="0" i="1" dirty="0">
                <a:solidFill>
                  <a:srgbClr val="000000"/>
                </a:solidFill>
                <a:effectLst/>
                <a:latin typeface="Arial"/>
              </a:rPr>
              <a:t> do pipeline mastery-aware?"</a:t>
            </a:r>
            <a:endParaRPr lang="en-GB" sz="1100" b="0" i="0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Apenas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quando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Copilot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validar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sua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conclusão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(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verificando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artefatos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) e der o "OK",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deverá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realizar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o commit de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todos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arquivos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modificados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nesta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primeira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100" b="0" i="0" dirty="0" err="1">
                <a:solidFill>
                  <a:srgbClr val="000000"/>
                </a:solidFill>
                <a:effectLst/>
                <a:latin typeface="Arial"/>
              </a:rPr>
              <a:t>etapa</a:t>
            </a:r>
            <a:r>
              <a:rPr lang="en-GB" sz="11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  <a:endParaRPr lang="en-GB" sz="105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</p:spTree>
    <p:extLst>
      <p:ext uri="{BB962C8B-B14F-4D97-AF65-F5344CB8AC3E}">
        <p14:creationId xmlns:p14="http://schemas.microsoft.com/office/powerpoint/2010/main" val="922720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8F337A44-2AA2-1B03-8037-EE312A58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B3EF1E3-0902-A18C-36C9-5D4713E3A5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60" y="684885"/>
            <a:ext cx="6511486" cy="2358035"/>
          </a:xfrm>
          <a:prstGeom prst="rect">
            <a:avLst/>
          </a:prstGeom>
        </p:spPr>
      </p:pic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24DF1B7E-B5FF-5A23-E910-3100035D7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81B60B-48E1-7FFE-F1F7-E7161A6D9F41}"/>
              </a:ext>
            </a:extLst>
          </p:cNvPr>
          <p:cNvSpPr txBox="1"/>
          <p:nvPr/>
        </p:nvSpPr>
        <p:spPr>
          <a:xfrm>
            <a:off x="4467146" y="473070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https://github.com/IsabelaYabe/tictactoe_activity_ai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7025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F8BC77CE-32F5-45EF-20A9-6D01573A4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4C80EFF8-7B2A-0D41-030C-11BFA00221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/>
              <a:t>O </a:t>
            </a:r>
            <a:r>
              <a:rPr lang="en-US" dirty="0" err="1"/>
              <a:t>experimento</a:t>
            </a:r>
            <a:r>
              <a:rPr lang="en-US" dirty="0"/>
              <a:t>: </a:t>
            </a:r>
            <a:r>
              <a:rPr lang="en-US" dirty="0" err="1"/>
              <a:t>TicTacToe</a:t>
            </a:r>
            <a:r>
              <a:rPr lang="en-US" dirty="0"/>
              <a:t> - </a:t>
            </a:r>
            <a:r>
              <a:rPr lang="en-US" dirty="0" err="1"/>
              <a:t>Instruções</a:t>
            </a:r>
            <a:endParaRPr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CDC9FB-E7CF-9F76-128A-165D7C582B45}"/>
              </a:ext>
            </a:extLst>
          </p:cNvPr>
          <p:cNvSpPr txBox="1"/>
          <p:nvPr/>
        </p:nvSpPr>
        <p:spPr>
          <a:xfrm>
            <a:off x="4499804" y="47698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FE1B9-9631-A4FF-9A70-0064D2D4ABFD}"/>
              </a:ext>
            </a:extLst>
          </p:cNvPr>
          <p:cNvSpPr txBox="1"/>
          <p:nvPr/>
        </p:nvSpPr>
        <p:spPr>
          <a:xfrm>
            <a:off x="558800" y="573125"/>
            <a:ext cx="782828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2: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Implementação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do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Placar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(Score)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Nesta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segunda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missão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deverá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implementar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um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sistema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de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pontuação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contabilizando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exibindo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vitórias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do Gato (🐱) e do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Cachorro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(🐶).</a:t>
            </a:r>
          </a:p>
          <a:p>
            <a:pPr indent="0" algn="l">
              <a:spcAft>
                <a:spcPts val="1200"/>
              </a:spcAft>
              <a:buNone/>
            </a:pP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⚠️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Regras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da 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2:</a:t>
            </a:r>
            <a:endParaRPr lang="en-GB" sz="1200" b="0" i="0" dirty="0">
              <a:solidFill>
                <a:srgbClr val="000000"/>
              </a:solidFill>
              <a:effectLst/>
              <a:latin typeface="Arial"/>
            </a:endParaRP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Importante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: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 Antes de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escrever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código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ou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conversar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com o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sobre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essa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 </a:t>
            </a:r>
            <a:r>
              <a:rPr lang="en-GB" sz="1200" b="1" i="0" dirty="0" err="1">
                <a:solidFill>
                  <a:srgbClr val="000000"/>
                </a:solidFill>
                <a:effectLst/>
                <a:latin typeface="Arial"/>
              </a:rPr>
              <a:t>desabilite</a:t>
            </a:r>
            <a:r>
              <a:rPr lang="en-GB" sz="1200" b="1" i="0" dirty="0">
                <a:solidFill>
                  <a:srgbClr val="000000"/>
                </a:solidFill>
                <a:effectLst/>
                <a:latin typeface="Arial"/>
              </a:rPr>
              <a:t> o pipeline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 Para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isso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execute no terminal o script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adequado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seu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Sistema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Operacional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: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Linux / Mac: 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Windows: 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partir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agora,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desenvolvimento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não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será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mais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monitorado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pelo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pipeline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MasteryAware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Você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deve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desenvolver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toda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solução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interagindo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livremente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com o Copilot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pelo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chat.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Garanta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sua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implementação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esteja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funcionando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corretamente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através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de testes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manuais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valide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se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testes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unitários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do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projeto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continuam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passando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</a:p>
          <a:p>
            <a:pPr marL="342900" lvl="0" indent="-3429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Assim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que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o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placar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estiver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totalmente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funcional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, realize um novo commit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contendo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as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modificações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referentes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à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segunda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 </a:t>
            </a:r>
            <a:r>
              <a:rPr lang="en-GB" sz="1200" b="0" i="0" dirty="0" err="1">
                <a:solidFill>
                  <a:srgbClr val="000000"/>
                </a:solidFill>
                <a:effectLst/>
                <a:latin typeface="Arial"/>
              </a:rPr>
              <a:t>tarefa</a:t>
            </a:r>
            <a:r>
              <a:rPr lang="en-GB" sz="1200" b="0" i="0" dirty="0">
                <a:solidFill>
                  <a:srgbClr val="000000"/>
                </a:solidFill>
                <a:effectLst/>
                <a:latin typeface="Arial"/>
              </a:rPr>
              <a:t>.</a:t>
            </a:r>
            <a:endParaRPr lang="en-GB" sz="1100" b="0" i="0" dirty="0">
              <a:solidFill>
                <a:srgbClr val="1F2328"/>
              </a:solidFill>
              <a:effectLst/>
              <a:latin typeface="Mona Sans VF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6CD466-7F44-8851-FFC5-9E34D6439687}"/>
              </a:ext>
            </a:extLst>
          </p:cNvPr>
          <p:cNvSpPr txBox="1"/>
          <p:nvPr/>
        </p:nvSpPr>
        <p:spPr>
          <a:xfrm>
            <a:off x="2259331" y="2310140"/>
            <a:ext cx="1880869" cy="2616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0">
              <a:spcAft>
                <a:spcPts val="1200"/>
              </a:spcAft>
            </a:pPr>
            <a:r>
              <a:rPr lang="pt-BR" sz="105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./pipeline.sh OFF</a:t>
            </a:r>
            <a:endParaRPr lang="pt-BR" sz="10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BFA827-A96F-7CF7-499E-925FE051D091}"/>
              </a:ext>
            </a:extLst>
          </p:cNvPr>
          <p:cNvSpPr txBox="1"/>
          <p:nvPr/>
        </p:nvSpPr>
        <p:spPr>
          <a:xfrm>
            <a:off x="2259330" y="2645420"/>
            <a:ext cx="1880869" cy="2616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 latinLnBrk="0">
              <a:spcAft>
                <a:spcPts val="1200"/>
              </a:spcAft>
            </a:pPr>
            <a:r>
              <a:rPr lang="pt-BR" sz="105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pipeline.bat OFF</a:t>
            </a:r>
            <a:endParaRPr lang="pt-BR" sz="105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0743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>
          <a:extLst>
            <a:ext uri="{FF2B5EF4-FFF2-40B4-BE49-F238E27FC236}">
              <a16:creationId xmlns:a16="http://schemas.microsoft.com/office/drawing/2014/main" id="{BE6C724F-05F1-8ED1-3167-7D7CC4152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1">
            <a:extLst>
              <a:ext uri="{FF2B5EF4-FFF2-40B4-BE49-F238E27FC236}">
                <a16:creationId xmlns:a16="http://schemas.microsoft.com/office/drawing/2014/main" id="{832E58E2-9812-DE60-B99B-FA64A50343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17649" y="40025"/>
            <a:ext cx="7220001" cy="5331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lvl="0"/>
            <a:r>
              <a:rPr lang="en-US" dirty="0" err="1"/>
              <a:t>Dúvidas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6BD2C7-5956-784E-FA48-E2632FE60FB9}"/>
              </a:ext>
            </a:extLst>
          </p:cNvPr>
          <p:cNvSpPr txBox="1"/>
          <p:nvPr/>
        </p:nvSpPr>
        <p:spPr>
          <a:xfrm>
            <a:off x="4424691" y="47698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https://github.com/IsabelaYabe/tictactoe_activity_ai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61518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8302CC95-D8BD-BA30-89BB-569B08A98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>
            <a:extLst>
              <a:ext uri="{FF2B5EF4-FFF2-40B4-BE49-F238E27FC236}">
                <a16:creationId xmlns:a16="http://schemas.microsoft.com/office/drawing/2014/main" id="{F3971CDC-107A-4A9B-9BED-59D98F3E85D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587150" y="1340625"/>
            <a:ext cx="6447300" cy="1234800"/>
          </a:xfrm>
          <a:prstGeom prst="rect">
            <a:avLst/>
          </a:prstGeom>
        </p:spPr>
        <p:txBody>
          <a:bodyPr spcFirstLastPara="1" wrap="square" lIns="69850" tIns="34925" rIns="69850" bIns="349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800" dirty="0"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/>
              <a:t>Assistentes</a:t>
            </a:r>
            <a:r>
              <a:rPr lang="en-US" sz="2800" dirty="0"/>
              <a:t> de AI </a:t>
            </a:r>
            <a:r>
              <a:rPr lang="en-US" sz="2800" dirty="0" err="1"/>
              <a:t>generativa</a:t>
            </a:r>
            <a:r>
              <a:rPr lang="en-US" sz="2800" dirty="0"/>
              <a:t> e o </a:t>
            </a:r>
            <a:r>
              <a:rPr lang="en-US" sz="2800" dirty="0" err="1"/>
              <a:t>risco</a:t>
            </a:r>
            <a:r>
              <a:rPr lang="en-US" sz="2800" dirty="0"/>
              <a:t> de </a:t>
            </a:r>
            <a:r>
              <a:rPr lang="en-US" sz="2800" dirty="0" err="1"/>
              <a:t>Dívida</a:t>
            </a:r>
            <a:r>
              <a:rPr lang="en-US" sz="2800" dirty="0"/>
              <a:t> </a:t>
            </a:r>
            <a:r>
              <a:rPr lang="en-US" sz="2800" dirty="0" err="1"/>
              <a:t>Cognitiva</a:t>
            </a:r>
            <a:r>
              <a:rPr lang="en-US" sz="2800" dirty="0"/>
              <a:t> - </a:t>
            </a:r>
            <a:r>
              <a:rPr lang="en-US" sz="2800" dirty="0" err="1"/>
              <a:t>Exercício</a:t>
            </a:r>
            <a:endParaRPr sz="2800" dirty="0"/>
          </a:p>
        </p:txBody>
      </p:sp>
      <p:sp>
        <p:nvSpPr>
          <p:cNvPr id="153" name="Google Shape;153;p20">
            <a:extLst>
              <a:ext uri="{FF2B5EF4-FFF2-40B4-BE49-F238E27FC236}">
                <a16:creationId xmlns:a16="http://schemas.microsoft.com/office/drawing/2014/main" id="{369AB968-E40A-0626-C0DA-522A27B8610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09350" y="2616125"/>
            <a:ext cx="5825100" cy="822600"/>
          </a:xfrm>
          <a:prstGeom prst="rect">
            <a:avLst/>
          </a:prstGeom>
        </p:spPr>
        <p:txBody>
          <a:bodyPr spcFirstLastPara="1" wrap="square" lIns="69850" tIns="34925" rIns="69850" bIns="34925" anchor="t" anchorCtr="0">
            <a:normAutofit/>
          </a:bodyPr>
          <a:lstStyle/>
          <a:p>
            <a:pPr marL="0" lvl="0" indent="0" algn="r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/>
              <a:t>INF1028 e INF1045</a:t>
            </a:r>
            <a:endParaRPr/>
          </a:p>
        </p:txBody>
      </p:sp>
      <p:sp>
        <p:nvSpPr>
          <p:cNvPr id="154" name="Google Shape;154;p20">
            <a:extLst>
              <a:ext uri="{FF2B5EF4-FFF2-40B4-BE49-F238E27FC236}">
                <a16:creationId xmlns:a16="http://schemas.microsoft.com/office/drawing/2014/main" id="{43F579FA-8459-69BD-D151-9390A78918AB}"/>
              </a:ext>
            </a:extLst>
          </p:cNvPr>
          <p:cNvSpPr txBox="1"/>
          <p:nvPr/>
        </p:nvSpPr>
        <p:spPr>
          <a:xfrm>
            <a:off x="2124000" y="3311075"/>
            <a:ext cx="4896000" cy="1805592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Alessandro Garcia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Isabela Yabe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rebuchet MS"/>
                <a:ea typeface="Trebuchet MS"/>
                <a:cs typeface="Trebuchet MS"/>
                <a:sym typeface="Trebuchet MS"/>
              </a:rPr>
              <a:t>Vicente Neto</a:t>
            </a: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None/>
            </a:pPr>
            <a:endParaRPr sz="1200" dirty="0">
              <a:solidFill>
                <a:srgbClr val="7F7F7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dirty="0">
              <a:solidFill>
                <a:srgbClr val="BFBFBF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5" name="Google Shape;155;p20">
            <a:extLst>
              <a:ext uri="{FF2B5EF4-FFF2-40B4-BE49-F238E27FC236}">
                <a16:creationId xmlns:a16="http://schemas.microsoft.com/office/drawing/2014/main" id="{7A3DCBE4-1CCE-D11D-CDEE-A6BD5280735B}"/>
              </a:ext>
            </a:extLst>
          </p:cNvPr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6348214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1188</Words>
  <Application>Microsoft Office PowerPoint</Application>
  <PresentationFormat>On-screen Show (16:9)</PresentationFormat>
  <Paragraphs>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Helvetica Neue</vt:lpstr>
      <vt:lpstr>Mona Sans VF</vt:lpstr>
      <vt:lpstr>Avenir</vt:lpstr>
      <vt:lpstr>Noto Sans Symbols</vt:lpstr>
      <vt:lpstr>Helvetica Neue Light</vt:lpstr>
      <vt:lpstr>Consolas</vt:lpstr>
      <vt:lpstr>Trebuchet MS</vt:lpstr>
      <vt:lpstr>Facet</vt:lpstr>
      <vt:lpstr>  Assistentes de AI generativa e o risco da Dívida Cognitiva - Exercício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O experimento: TicTacToe</vt:lpstr>
      <vt:lpstr>O experimento: TicTacToe</vt:lpstr>
      <vt:lpstr>O experimento: TicTacToe</vt:lpstr>
      <vt:lpstr>O experimento: TicTacToe - Instruções</vt:lpstr>
      <vt:lpstr>O experimento: TicTacToe - Instruções</vt:lpstr>
      <vt:lpstr>O experimento: TicTacToe - Instruções</vt:lpstr>
      <vt:lpstr>O experimento: TicTacToe - Instruções</vt:lpstr>
      <vt:lpstr>Dúvidas?</vt:lpstr>
      <vt:lpstr>  Assistentes de AI generativa e o risco de Dívida Cognitiva - Exercício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Vicente Neto</dc:creator>
  <cp:lastModifiedBy>Vicente Neto</cp:lastModifiedBy>
  <cp:revision>11</cp:revision>
  <dcterms:modified xsi:type="dcterms:W3CDTF">2026-09-03T01:07:55Z</dcterms:modified>
</cp:coreProperties>
</file>